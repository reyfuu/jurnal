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374a73b0-26e0-acad-ed34-82e2760ef034}">
          <p14:sldIdLst>
            <p14:sldId id="256"/>
            <p14:sldId id="257"/>
          </p14:sldIdLst>
        </p14:section>
        <p14:section name="D-3 Selisih persediaan" id="{3e2eaf58-8bde-2300-01a5-51abbce1dfd2}">
          <p14:sldIdLst>
            <p14:sldId id="258"/>
            <p14:sldId id="259"/>
            <p14:sldId id="260"/>
          </p14:sldIdLst>
        </p14:section>
        <p14:section name="D-5 Label laba ditahan" id="{4695af37-5af6-240d-3554-ede2a062b5a4}">
          <p14:sldIdLst>
            <p14:sldId id="261"/>
          </p14:sldIdLst>
        </p14:section>
        <p14:section name="D-6 Saldo awal per pihak" id="{45950e9d-fdf9-55b1-6ddb-ede8d78c23e6}">
          <p14:sldIdLst>
            <p14:sldId id="262"/>
            <p14:sldId id="263"/>
          </p14:sldIdLst>
        </p14:section>
        <p14:section name="Penutup" id="{7066a7d7-babd-0bf0-6dbe-2bf85b9a3db9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ini meminta keputusan tim pajak atas tiga butir checklist tester yang ditunda tim dev.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_GELAP">
    <p:bg>
      <p:bgPr>
        <a:solidFill>
          <a:srgbClr val="2228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MasterPajak AI · Keputusan D-3, D-5, D-6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Keputusan perlakuan akuntansi untuk MasterPajak AI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D-3 · D-5 · D-6   —   disusun reyfuu · Oktober 2026</a:t>
            </a:r>
            <a:endParaRPr lang="en-US" sz="1600" dirty="0"/>
          </a:p>
        </p:txBody>
      </p:sp>
      <p:sp>
        <p:nvSpPr>
          <p:cNvPr id="4" name="chip Untuk tim pajak / konsultan Master Pajak"/>
          <p:cNvSpPr/>
          <p:nvPr/>
        </p:nvSpPr>
        <p:spPr>
          <a:xfrm>
            <a:off x="548640" y="914400"/>
            <a:ext cx="3108960" cy="274320"/>
          </a:xfrm>
          <a:prstGeom prst="roundRect">
            <a:avLst>
              <a:gd name="adj" fmla="val 26667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914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52"/>
                </a:solidFill>
              </a:rPr>
              <a:t>Untuk tim pajak / konsultan Master Pajak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butir checklist menunggu keputusan tim pajak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Tim dev (reyfuu, Ravent) menunda tiga butir dari checklist tester karena masing-masing mengubah angka laporan atau perlakuan akuntansinya. Itu bukan keputusan teknis.</a:t>
            </a:r>
            <a:endParaRPr lang="en-US" sz="1400" dirty="0"/>
          </a:p>
        </p:txBody>
      </p:sp>
      <p:sp>
        <p:nvSpPr>
          <p:cNvPr id="4" name="kartu D-3"/>
          <p:cNvSpPr/>
          <p:nvPr/>
        </p:nvSpPr>
        <p:spPr>
          <a:xfrm>
            <a:off x="457200" y="1645920"/>
            <a:ext cx="2560320" cy="2057400"/>
          </a:xfrm>
          <a:prstGeom prst="roundRect">
            <a:avLst>
              <a:gd name="adj" fmla="val 355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5" name="chip D-3"/>
          <p:cNvSpPr/>
          <p:nvPr/>
        </p:nvSpPr>
        <p:spPr>
          <a:xfrm>
            <a:off x="685800" y="1828800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52"/>
                </a:solidFill>
              </a:rPr>
              <a:t>D-3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Checklist No 21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Selisih persediaan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517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Selisih opname sekarang ikut menaikkan HPP. Ke akun mana seharusnya?</a:t>
            </a:r>
            <a:endParaRPr lang="en-US" sz="1300" dirty="0"/>
          </a:p>
        </p:txBody>
      </p:sp>
      <p:sp>
        <p:nvSpPr>
          <p:cNvPr id="10" name="kartu D-5"/>
          <p:cNvSpPr/>
          <p:nvPr/>
        </p:nvSpPr>
        <p:spPr>
          <a:xfrm>
            <a:off x="3291840" y="1645920"/>
            <a:ext cx="2560320" cy="2057400"/>
          </a:xfrm>
          <a:prstGeom prst="roundRect">
            <a:avLst>
              <a:gd name="adj" fmla="val 355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1" name="chip D-5"/>
          <p:cNvSpPr/>
          <p:nvPr/>
        </p:nvSpPr>
        <p:spPr>
          <a:xfrm>
            <a:off x="3520440" y="1828800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828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52"/>
                </a:solidFill>
              </a:rPr>
              <a:t>D-5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Checklist No 19f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laba ditahan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6517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Tester minta "Laba Ditahan" menggantikan "Laba (Rugi) Ditahan".</a:t>
            </a:r>
            <a:endParaRPr lang="en-US" sz="1300" dirty="0"/>
          </a:p>
        </p:txBody>
      </p:sp>
      <p:sp>
        <p:nvSpPr>
          <p:cNvPr id="16" name="kartu D-6"/>
          <p:cNvSpPr/>
          <p:nvPr/>
        </p:nvSpPr>
        <p:spPr>
          <a:xfrm>
            <a:off x="6126480" y="1645920"/>
            <a:ext cx="2560320" cy="2057400"/>
          </a:xfrm>
          <a:prstGeom prst="roundRect">
            <a:avLst>
              <a:gd name="adj" fmla="val 3556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7" name="chip D-6"/>
          <p:cNvSpPr/>
          <p:nvPr/>
        </p:nvSpPr>
        <p:spPr>
          <a:xfrm>
            <a:off x="6355080" y="1828800"/>
            <a:ext cx="566928" cy="274320"/>
          </a:xfrm>
          <a:prstGeom prst="roundRect">
            <a:avLst>
              <a:gd name="adj" fmla="val 26667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8288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52"/>
                </a:solidFill>
              </a:rPr>
              <a:t>D-6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275"/>
                </a:solidFill>
              </a:rPr>
              <a:t>Checklist No 30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2240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Saldo awal per pihak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65176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Piutang/utang saldo awal hanya berupa total. Perlu dirinci per pihak?</a:t>
            </a:r>
            <a:endParaRPr lang="en-US" sz="1300" dirty="0"/>
          </a:p>
        </p:txBody>
      </p:sp>
      <p:sp>
        <p:nvSpPr>
          <p:cNvPr id="22" name="permintaan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222852"/>
          </a:solidFill>
          <a:ln w="12700">
            <a:solidFill>
              <a:srgbClr val="2228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931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B308"/>
                </a:solidFill>
              </a:rPr>
              <a:t>Yang kami minta: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pilih satu opsi untuk tiap butir (A, B, atau C) dan tulis catatan bila ada syarat atau perlakuan fiskal yang perlu diikuti.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D-3 · Selisih opname sekarang tercampur di HPP</a:t>
            </a:r>
            <a:endParaRPr lang="en-US" sz="2600" dirty="0"/>
          </a:p>
        </p:txBody>
      </p:sp>
      <p:sp>
        <p:nvSpPr>
          <p:cNvPr id="3" name="langkah Stok buku"/>
          <p:cNvSpPr/>
          <p:nvPr/>
        </p:nvSpPr>
        <p:spPr>
          <a:xfrm>
            <a:off x="457200" y="105156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704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Stok buku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kg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385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3"/>
                </a:solidFill>
              </a:rPr>
              <a:t>@Rp100.000 = Rp1.000.000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1463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B308"/>
                </a:solidFill>
              </a:rPr>
              <a:t>›</a:t>
            </a:r>
            <a:endParaRPr lang="en-US" sz="2400" dirty="0"/>
          </a:p>
        </p:txBody>
      </p:sp>
      <p:sp>
        <p:nvSpPr>
          <p:cNvPr id="8" name="langkah Hitung fisik"/>
          <p:cNvSpPr/>
          <p:nvPr/>
        </p:nvSpPr>
        <p:spPr>
          <a:xfrm>
            <a:off x="2331720" y="105156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1704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Hitung fisik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kg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19385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3"/>
                </a:solidFill>
              </a:rPr>
              <a:t>opname hanya mengubah jumlah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4630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B308"/>
                </a:solidFill>
              </a:rPr>
              <a:t>›</a:t>
            </a:r>
            <a:endParaRPr lang="en-US" sz="2400" dirty="0"/>
          </a:p>
        </p:txBody>
      </p:sp>
      <p:sp>
        <p:nvSpPr>
          <p:cNvPr id="13" name="langkah Selisih"/>
          <p:cNvSpPr/>
          <p:nvPr/>
        </p:nvSpPr>
        <p:spPr>
          <a:xfrm>
            <a:off x="4206240" y="105156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89120" y="11704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Selisih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14630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kg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193852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3"/>
                </a:solidFill>
              </a:rPr>
              <a:t>senilai Rp100.000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697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52"/>
                </a:solidFill>
              </a:rPr>
              <a:t>Yang terjadi di akhir periode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0632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</a:rPr>
              <a:t>Penyesuaian persediaan menyamakan saldo 1301 Persediaan Barang Dagang dengan nilai kartu stok.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</a:rPr>
              <a:t>Lawannya HPP: 5102 Pembelian Barang Dagang (periodik) atau 5101 HPP (perpetual).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</a:rPr>
              <a:t>Akibatnya selisih Rp100.000 menambah HPP dan tidak terlihat sebagai baris tersendiri.</a:t>
            </a:r>
            <a:endParaRPr lang="en-US" sz="1300" dirty="0"/>
          </a:p>
        </p:txBody>
      </p:sp>
      <p:sp>
        <p:nvSpPr>
          <p:cNvPr id="19" name="angka selisih"/>
          <p:cNvSpPr/>
          <p:nvPr/>
        </p:nvSpPr>
        <p:spPr>
          <a:xfrm>
            <a:off x="6172200" y="1051560"/>
            <a:ext cx="2514600" cy="3474720"/>
          </a:xfrm>
          <a:prstGeom prst="roundRect">
            <a:avLst>
              <a:gd name="adj" fmla="val 2909"/>
            </a:avLst>
          </a:prstGeom>
          <a:solidFill>
            <a:srgbClr val="222852"/>
          </a:solidFill>
          <a:ln w="12700">
            <a:solidFill>
              <a:srgbClr val="2228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CE0"/>
                </a:solidFill>
              </a:rPr>
              <a:t>HPP naik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1600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Rp100.000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23317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tanpa jejak bahwa angka itu berasal dari barang hilang, rusak, atau salah hitung.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5661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E0"/>
                </a:solidFill>
              </a:rPr>
              <a:t>Metode nilai stok: FIFO (bawaan) atau rata-rata bergerak.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D-3 · Jurnal tiap opsi untuk selisih Rp100.000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31520"/>
                <a:gridCol w="3520440"/>
                <a:gridCol w="1188720"/>
                <a:gridCol w="118872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 (Rp)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Kredit (Rp)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</a:tr>
              <a:tr h="246888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Tetap lewat HPP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5102 Pembelian Barang Dagang*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1301 Persediaan Barang Dagang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 vMerge="1">
                  <a:tcPr/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Lebih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1301 Persediaan Barang Dagang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5102 Pembelian Barang Dagang*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Akun 5106 (kelompok HPP)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5106 Selisih Persediaan (baru)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</a:tr>
              <a:tr h="2468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1301 Persediaan Barang Dagang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</a:tr>
              <a:tr h="246888">
                <a:tc vMerge="1">
                  <a:tcPr/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Lebih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1301 Persediaan Barang Dagang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</a:tr>
              <a:tr h="2468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5106 Selisih Persediaan (baru)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</a:tr>
              <a:tr h="246888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Di luar usaha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9901 Beban Lain-lain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1301 Persediaan Barang Dagang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 vMerge="1">
                  <a:tcPr/>
                </a:tc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Lebih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1301 Persediaan Barang Dagang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8101 Pendapatan Lain-lain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275"/>
                </a:solidFill>
              </a:rPr>
              <a:t>* 5102 untuk pencatatan periodik, 5101 HPP untuk perpetual. Pada opsi B dan C jurnal dibuat pada tanggal opname; penyesuaian akhir periode tidak menghitungnya ulang.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D-3 · Laba bersih sama, letak selisihnya yang berbeda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9377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1005840"/>
                <a:gridCol w="10058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Laba rugi (contoh)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Penjualan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(6.100.000)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(6.000.000)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(6.000.000)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Selisih persediaan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(100.000)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Laba kotor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Beban usaha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(2.000.000)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(2.000.000)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(2.000.000)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Beban lain-lain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(100.000)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Laba bersih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49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5"/>
                </a:solidFill>
              </a:rPr>
              <a:t>Angka ilustrasi (Rp), selisih kurang Rp100.000.</a:t>
            </a:r>
            <a:endParaRPr lang="en-US" sz="1000" dirty="0"/>
          </a:p>
        </p:txBody>
      </p:sp>
      <p:sp>
        <p:nvSpPr>
          <p:cNvPr id="5" name="rekomendasi D-3"/>
          <p:cNvSpPr/>
          <p:nvPr/>
        </p:nvSpPr>
        <p:spPr>
          <a:xfrm>
            <a:off x="5669280" y="1005840"/>
            <a:ext cx="3017520" cy="1600200"/>
          </a:xfrm>
          <a:prstGeom prst="roundRect">
            <a:avLst>
              <a:gd name="adj" fmla="val 4571"/>
            </a:avLst>
          </a:prstGeom>
          <a:solidFill>
            <a:srgbClr val="FDF6DC"/>
          </a:solidFill>
          <a:ln w="12700">
            <a:solidFill>
              <a:srgbClr val="F1D7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1155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52"/>
                </a:solidFill>
              </a:rPr>
              <a:t>Rekomendasi dev: B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463040"/>
            <a:ext cx="2697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</a:rPr>
              <a:t>HPP penjualan tetap murni dan selisih tampil sebagai baris sendiri tepat di bawahnya. Laba kotor sama dengan A, tetapi sumbernya terlihat.</a:t>
            </a:r>
            <a:endParaRPr lang="en-US" sz="1200" dirty="0"/>
          </a:p>
        </p:txBody>
      </p:sp>
      <p:sp>
        <p:nvSpPr>
          <p:cNvPr id="8" name="pertanyaan D-3"/>
          <p:cNvSpPr/>
          <p:nvPr/>
        </p:nvSpPr>
        <p:spPr>
          <a:xfrm>
            <a:off x="5669280" y="2743200"/>
            <a:ext cx="3017520" cy="1828800"/>
          </a:xfrm>
          <a:prstGeom prst="roundRect">
            <a:avLst>
              <a:gd name="adj" fmla="val 4000"/>
            </a:avLst>
          </a:prstGeom>
          <a:solidFill>
            <a:srgbClr val="222852"/>
          </a:solidFill>
          <a:ln w="12700">
            <a:solidFill>
              <a:srgbClr val="2228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28346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B308"/>
                </a:solidFill>
              </a:rPr>
              <a:t>Pertanyaan untuk tim pajak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3182112"/>
            <a:ext cx="2697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Perlukah selisih wajar dan tidak wajar dibedakan akunnya?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Bagaimana perlakuan fiskalnya: boleh dikurangkan sebagai biaya, atau perlu dikoreksi?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433"/>
                </a:solidFill>
              </a:rPr>
              <a:t>Laba bersih sama di ketiga opsi; yang berubah laba kotor dan margin. Perlakuan fiskalnya tetap perlu dipastikan.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D-5 · Nama baris laba ditahan di neraca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</a:rPr>
              <a:t>Neraca sekarang (bagian ekuitas, contoh)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3840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Disetor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Laba (Rugi) Ditahan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222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(1.250.000)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Laba (Rugi) Tahun Berjalan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Ekuitas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52.150.000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971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433"/>
                </a:solidFill>
              </a:rPr>
              <a:t>Saldo negatif tetap tampil dalam kurung apa pun labelnya.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433"/>
                </a:solidFill>
              </a:rPr>
              <a:t>Baris tahun berjalan tetap "Laba (Rugi) Tahun Berjalan".</a:t>
            </a:r>
            <a:endParaRPr lang="en-US" sz="1200" dirty="0"/>
          </a:p>
        </p:txBody>
      </p:sp>
      <p:sp>
        <p:nvSpPr>
          <p:cNvPr id="6" name="pertanyaan D-5"/>
          <p:cNvSpPr/>
          <p:nvPr/>
        </p:nvSpPr>
        <p:spPr>
          <a:xfrm>
            <a:off x="457200" y="37947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222852"/>
          </a:solidFill>
          <a:ln w="12700">
            <a:solidFill>
              <a:srgbClr val="2228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7947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B308"/>
                </a:solidFill>
              </a:rPr>
              <a:t>Pertanyaan: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istilah mana yang sesuai acuan penyajian yang tim pakai (SAK EMKM atau SAK EP)?</a:t>
            </a:r>
            <a:endParaRPr lang="en-US" sz="1200" dirty="0"/>
          </a:p>
        </p:txBody>
      </p:sp>
      <p:sp>
        <p:nvSpPr>
          <p:cNvPr id="8" name="opsi D-5 A"/>
          <p:cNvSpPr/>
          <p:nvPr/>
        </p:nvSpPr>
        <p:spPr>
          <a:xfrm>
            <a:off x="4663440" y="100584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DF6DC"/>
          </a:solidFill>
          <a:ln w="12700">
            <a:solidFill>
              <a:srgbClr val="F1D77A"/>
            </a:solidFill>
            <a:prstDash val="solid"/>
          </a:ln>
        </p:spPr>
      </p:sp>
      <p:sp>
        <p:nvSpPr>
          <p:cNvPr id="9" name="chip A"/>
          <p:cNvSpPr/>
          <p:nvPr/>
        </p:nvSpPr>
        <p:spPr>
          <a:xfrm>
            <a:off x="4846320" y="1188720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188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52"/>
                </a:solidFill>
              </a:rPr>
              <a:t>A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1143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52"/>
                </a:solidFill>
              </a:rPr>
              <a:t>"Laba Ditahan"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6400"/>
                </a:solidFill>
              </a:rPr>
              <a:t>Rekomendasi dev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</a:rPr>
              <a:t>Permintaan tester. Pendek; tanda kurung sudah menunjukkan defisit.</a:t>
            </a:r>
            <a:endParaRPr lang="en-US" sz="1200" dirty="0"/>
          </a:p>
        </p:txBody>
      </p:sp>
      <p:sp>
        <p:nvSpPr>
          <p:cNvPr id="14" name="opsi D-5 B"/>
          <p:cNvSpPr/>
          <p:nvPr/>
        </p:nvSpPr>
        <p:spPr>
          <a:xfrm>
            <a:off x="4663440" y="2212848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5" name="chip B"/>
          <p:cNvSpPr/>
          <p:nvPr/>
        </p:nvSpPr>
        <p:spPr>
          <a:xfrm>
            <a:off x="4846320" y="2395728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22852"/>
          </a:solidFill>
          <a:ln w="12700">
            <a:solidFill>
              <a:srgbClr val="22285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23500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52"/>
                </a:solidFill>
              </a:rPr>
              <a:t>"Saldo Laba (Defisit)"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2715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</a:rPr>
              <a:t>Menyebut kemungkinan defisit secara eksplisit.</a:t>
            </a:r>
            <a:endParaRPr lang="en-US" sz="1200" dirty="0"/>
          </a:p>
        </p:txBody>
      </p:sp>
      <p:sp>
        <p:nvSpPr>
          <p:cNvPr id="19" name="opsi D-5 C"/>
          <p:cNvSpPr/>
          <p:nvPr/>
        </p:nvSpPr>
        <p:spPr>
          <a:xfrm>
            <a:off x="4663440" y="3419856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20" name="chip C"/>
          <p:cNvSpPr/>
          <p:nvPr/>
        </p:nvSpPr>
        <p:spPr>
          <a:xfrm>
            <a:off x="4846320" y="3602736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22852"/>
          </a:solidFill>
          <a:ln w="12700">
            <a:solidFill>
              <a:srgbClr val="22285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46320" y="36027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349240" y="35570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52"/>
                </a:solidFill>
              </a:rPr>
              <a:t>Tetap "Laba (Rugi) Ditahan"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349240" y="392277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</a:rPr>
              <a:t>Tanpa perubahan; butir tester ditutup sebagai keputusan.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D-6 · Piutang dan utang saldo awal hanya berupa total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275"/>
                </a:solidFill>
              </a:rPr>
              <a:t>Sekarang</a:t>
            </a:r>
            <a:endParaRPr lang="en-US" sz="1400" dirty="0"/>
          </a:p>
        </p:txBody>
      </p:sp>
      <p:sp>
        <p:nvSpPr>
          <p:cNvPr id="4" name="baris total"/>
          <p:cNvSpPr/>
          <p:nvPr/>
        </p:nvSpPr>
        <p:spPr>
          <a:xfrm>
            <a:off x="457200" y="137160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</a:rPr>
              <a:t>Piutang Usaha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371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22852"/>
                </a:solidFill>
              </a:rPr>
              <a:t>Rp5.000.000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</a:rPr>
              <a:t>Satu angka total, tanpa nama pihak atau jatuh tempo.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</a:rPr>
              <a:t>Pelunasan dicatat terpisah: kas bergerak, laba tidak.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</a:rPr>
              <a:t>Menu Piutang &amp; Utang dan umur piutang tidak melihat saldo awal per pihak.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840480" y="2103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B308"/>
                </a:solidFill>
              </a:rPr>
              <a:t>›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005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52"/>
                </a:solidFill>
              </a:rPr>
              <a:t>Usulan: rinci per pihak bila nilainya &gt; 0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371600"/>
          <a:ext cx="4389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60120"/>
                <a:gridCol w="1097280"/>
                <a:gridCol w="11430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Pihak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 bukti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Jatuh tempo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Toko Sinar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INV-0912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Nov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Rp3.000.000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Maju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INV-0927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Nov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Rp2.000.000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Piutang Usaha (terkunci)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Rp5.000.000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297680" y="28803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</a:rPr>
              <a:t>Total di neraca awal = jumlah rincian; baris tidak bisa diketik.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</a:rPr>
              <a:t>Tiap rincian masuk menu Piutang &amp; Utang dan bisa dilunasi seperti tagihan biasa.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3886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5"/>
                </a:solidFill>
              </a:rPr>
              <a:t>Nama pihak dan nomor bukti hanya contoh.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D-6 · Dampak rincian dan opsi yang tersedia</a:t>
            </a:r>
            <a:endParaRPr lang="en-US" sz="2600" dirty="0"/>
          </a:p>
        </p:txBody>
      </p:sp>
      <p:sp>
        <p:nvSpPr>
          <p:cNvPr id="3" name="dampak 1"/>
          <p:cNvSpPr/>
          <p:nvPr/>
        </p:nvSpPr>
        <p:spPr>
          <a:xfrm>
            <a:off x="457200" y="10058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43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52"/>
                </a:solidFill>
              </a:rPr>
              <a:t>Umur piutang lengkap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4813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3"/>
                </a:solidFill>
              </a:rPr>
              <a:t>Saldo awal ikut dihitung per jatuh tempo.</a:t>
            </a:r>
            <a:endParaRPr lang="en-US" sz="1150" dirty="0"/>
          </a:p>
        </p:txBody>
      </p:sp>
      <p:sp>
        <p:nvSpPr>
          <p:cNvPr id="7" name="dampak 2"/>
          <p:cNvSpPr/>
          <p:nvPr/>
        </p:nvSpPr>
        <p:spPr>
          <a:xfrm>
            <a:off x="3291840" y="10058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143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52"/>
                </a:solidFill>
              </a:rPr>
              <a:t>Dasar penghapusan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4813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3"/>
                </a:solidFill>
              </a:rPr>
              <a:t>Piutang tak tertagih bisa ditunjuk per pihak dan bukti.</a:t>
            </a:r>
            <a:endParaRPr lang="en-US" sz="1150" dirty="0"/>
          </a:p>
        </p:txBody>
      </p:sp>
      <p:sp>
        <p:nvSpPr>
          <p:cNvPr id="11" name="dampak 3"/>
          <p:cNvSpPr/>
          <p:nvPr/>
        </p:nvSpPr>
        <p:spPr>
          <a:xfrm>
            <a:off x="6126480" y="1005840"/>
            <a:ext cx="2560320" cy="1051560"/>
          </a:xfrm>
          <a:prstGeom prst="roundRect">
            <a:avLst>
              <a:gd name="adj" fmla="val 6957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1430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52"/>
                </a:solidFill>
              </a:rPr>
              <a:t>Rekonsiliasi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4813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433"/>
                </a:solidFill>
              </a:rPr>
              <a:t>Saldo bisa dicocokkan dengan konfirmasi pihak lawan.</a:t>
            </a:r>
            <a:endParaRPr lang="en-US" sz="1150" dirty="0"/>
          </a:p>
        </p:txBody>
      </p:sp>
      <p:sp>
        <p:nvSpPr>
          <p:cNvPr id="15" name="opsi D-6 A"/>
          <p:cNvSpPr/>
          <p:nvPr/>
        </p:nvSpPr>
        <p:spPr>
          <a:xfrm>
            <a:off x="457200" y="22860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DF6DC"/>
          </a:solidFill>
          <a:ln w="12700">
            <a:solidFill>
              <a:srgbClr val="F1D77A"/>
            </a:solidFill>
            <a:prstDash val="solid"/>
          </a:ln>
        </p:spPr>
      </p:sp>
      <p:sp>
        <p:nvSpPr>
          <p:cNvPr id="16" name="chip A"/>
          <p:cNvSpPr/>
          <p:nvPr/>
        </p:nvSpPr>
        <p:spPr>
          <a:xfrm>
            <a:off x="640080" y="2450592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52"/>
                </a:solidFill>
              </a:rPr>
              <a:t>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52"/>
                </a:solidFill>
              </a:rPr>
              <a:t>Wajib rinci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852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</a:rPr>
              <a:t>Total terkunci sama dengan Σ rincian per pihak.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474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400"/>
                </a:solidFill>
              </a:rPr>
              <a:t>Rekomendasi untuk usaha baru</a:t>
            </a:r>
            <a:endParaRPr lang="en-US" sz="1100" dirty="0"/>
          </a:p>
        </p:txBody>
      </p:sp>
      <p:sp>
        <p:nvSpPr>
          <p:cNvPr id="21" name="opsi D-6 B"/>
          <p:cNvSpPr/>
          <p:nvPr/>
        </p:nvSpPr>
        <p:spPr>
          <a:xfrm>
            <a:off x="3291840" y="22860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DF6DC"/>
          </a:solidFill>
          <a:ln w="12700">
            <a:solidFill>
              <a:srgbClr val="F1D77A"/>
            </a:solidFill>
            <a:prstDash val="solid"/>
          </a:ln>
        </p:spPr>
      </p:sp>
      <p:sp>
        <p:nvSpPr>
          <p:cNvPr id="22" name="chip B"/>
          <p:cNvSpPr/>
          <p:nvPr/>
        </p:nvSpPr>
        <p:spPr>
          <a:xfrm>
            <a:off x="3474720" y="2450592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74720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852"/>
                </a:solidFill>
              </a:rPr>
              <a:t>B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97764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52"/>
                </a:solidFill>
              </a:rPr>
              <a:t>Rinci opsional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474720" y="2852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</a:rPr>
              <a:t>Boleh satu baris "tanpa rincian" untuk sisa yang belum bisa dirinci.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474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400"/>
                </a:solidFill>
              </a:rPr>
              <a:t>Rekomendasi untuk usaha lama</a:t>
            </a:r>
            <a:endParaRPr lang="en-US" sz="1100" dirty="0"/>
          </a:p>
        </p:txBody>
      </p:sp>
      <p:sp>
        <p:nvSpPr>
          <p:cNvPr id="27" name="opsi D-6 C"/>
          <p:cNvSpPr/>
          <p:nvPr/>
        </p:nvSpPr>
        <p:spPr>
          <a:xfrm>
            <a:off x="6126480" y="2286000"/>
            <a:ext cx="2560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DCE6"/>
            </a:solidFill>
            <a:prstDash val="solid"/>
          </a:ln>
        </p:spPr>
      </p:sp>
      <p:sp>
        <p:nvSpPr>
          <p:cNvPr id="28" name="chip C"/>
          <p:cNvSpPr/>
          <p:nvPr/>
        </p:nvSpPr>
        <p:spPr>
          <a:xfrm>
            <a:off x="6309360" y="2450592"/>
            <a:ext cx="365760" cy="274320"/>
          </a:xfrm>
          <a:prstGeom prst="roundRect">
            <a:avLst>
              <a:gd name="adj" fmla="val 26667"/>
            </a:avLst>
          </a:prstGeom>
          <a:solidFill>
            <a:srgbClr val="222852"/>
          </a:solidFill>
          <a:ln w="12700">
            <a:solidFill>
              <a:srgbClr val="2228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2450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24505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52"/>
                </a:solidFill>
              </a:rPr>
              <a:t>Tetap total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285292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</a:rPr>
              <a:t>Seperti sekarang; umur piutang tetap tidak lengkap.</a:t>
            </a:r>
            <a:endParaRPr lang="en-US" sz="1200" dirty="0"/>
          </a:p>
        </p:txBody>
      </p:sp>
      <p:sp>
        <p:nvSpPr>
          <p:cNvPr id="32" name="pertanyaan D-6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222852"/>
          </a:solidFill>
          <a:ln w="12700">
            <a:solidFill>
              <a:srgbClr val="22285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B308"/>
                </a:solidFill>
              </a:rPr>
              <a:t>Pertanyaan: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apakah rincian per pihak diperlukan sebagai dasar penghapusan piutang tak tertagih, dan cukupkah B untuk usaha lama?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Ringkasan: mohon isi kolom keputusan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148840"/>
                <a:gridCol w="141732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Keputusan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Rekomendasi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Keputusan tim pajak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B3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85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D-3 Selisih persediaan (No 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HPP · B akun 5106 · C 9901/8101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D-5 Label laba ditahan (No 19f)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Laba Ditahan · B Saldo Laba (Defisit) · C tetap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8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D-6 Saldo awal per pihak (No 30)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wajib · B opsional · C tetap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usaha lama, A usaha baru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D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275"/>
                </a:solidFill>
              </a:rPr>
              <a:t>Isi kolom kuning dengan huruf opsi; tulis syarat atau perlakuan fiskal di kolom Catatan.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28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keputusan masuk</a:t>
            </a:r>
            <a:endParaRPr lang="en-US" sz="2600" dirty="0"/>
          </a:p>
        </p:txBody>
      </p:sp>
      <p:sp>
        <p:nvSpPr>
          <p:cNvPr id="3" name="tahap 1"/>
          <p:cNvSpPr/>
          <p:nvPr/>
        </p:nvSpPr>
        <p:spPr>
          <a:xfrm>
            <a:off x="457200" y="10515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52"/>
                </a:solidFill>
              </a:rPr>
              <a:t>Tim pajak memilih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</a:rPr>
              <a:t>Isi tabel ringkasan; satu keputusan per butir.</a:t>
            </a:r>
            <a:endParaRPr lang="en-US" sz="1200" dirty="0"/>
          </a:p>
        </p:txBody>
      </p:sp>
      <p:sp>
        <p:nvSpPr>
          <p:cNvPr id="7" name="tahap 2"/>
          <p:cNvSpPr/>
          <p:nvPr/>
        </p:nvSpPr>
        <p:spPr>
          <a:xfrm>
            <a:off x="3291840" y="10515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222852"/>
          </a:solidFill>
          <a:ln w="12700">
            <a:solidFill>
              <a:srgbClr val="2228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188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 mengerjakan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91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ADDEA"/>
                </a:solidFill>
              </a:rPr>
              <a:t>Tiap butir satu PR, dikerjakan berurutan.</a:t>
            </a:r>
            <a:endParaRPr lang="en-US" sz="1200" dirty="0"/>
          </a:p>
        </p:txBody>
      </p:sp>
      <p:sp>
        <p:nvSpPr>
          <p:cNvPr id="11" name="tahap 3"/>
          <p:cNvSpPr/>
          <p:nvPr/>
        </p:nvSpPr>
        <p:spPr>
          <a:xfrm>
            <a:off x="6126480" y="105156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3F4F8"/>
          </a:solidFill>
          <a:ln w="12700">
            <a:solidFill>
              <a:srgbClr val="F3F4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1887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852"/>
                </a:solidFill>
              </a:rPr>
              <a:t>Tester menguji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691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</a:rPr>
              <a:t>Ulang butir checklist No 19f, 21, dan 30.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52"/>
                </a:solidFill>
              </a:rPr>
              <a:t>Perkiraan pengerjaan dev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0175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D-5 Label laba ditahan</a:t>
            </a:r>
            <a:endParaRPr lang="en-US" sz="1300" dirty="0"/>
          </a:p>
        </p:txBody>
      </p:sp>
      <p:sp>
        <p:nvSpPr>
          <p:cNvPr id="17" name="batang D-5 Label laba ditahan"/>
          <p:cNvSpPr/>
          <p:nvPr/>
        </p:nvSpPr>
        <p:spPr>
          <a:xfrm>
            <a:off x="2880360" y="3054096"/>
            <a:ext cx="777240" cy="274320"/>
          </a:xfrm>
          <a:prstGeom prst="roundRect">
            <a:avLst>
              <a:gd name="adj" fmla="val 20000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67328" y="3017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52"/>
                </a:solidFill>
              </a:rPr>
              <a:t>½ hari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493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D-3 Selisih persediaan</a:t>
            </a:r>
            <a:endParaRPr lang="en-US" sz="1300" dirty="0"/>
          </a:p>
        </p:txBody>
      </p:sp>
      <p:sp>
        <p:nvSpPr>
          <p:cNvPr id="20" name="batang D-3 Selisih persediaan"/>
          <p:cNvSpPr/>
          <p:nvPr/>
        </p:nvSpPr>
        <p:spPr>
          <a:xfrm>
            <a:off x="2880360" y="35295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222852"/>
          </a:solidFill>
          <a:ln w="12700">
            <a:solidFill>
              <a:srgbClr val="2228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99048" y="349300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52"/>
                </a:solidFill>
              </a:rPr>
              <a:t>2 hari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68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</a:rPr>
              <a:t>D-6 Saldo awal per pihak</a:t>
            </a:r>
            <a:endParaRPr lang="en-US" sz="1300" dirty="0"/>
          </a:p>
        </p:txBody>
      </p:sp>
      <p:sp>
        <p:nvSpPr>
          <p:cNvPr id="23" name="batang D-6 Saldo awal per pihak"/>
          <p:cNvSpPr/>
          <p:nvPr/>
        </p:nvSpPr>
        <p:spPr>
          <a:xfrm>
            <a:off x="2880360" y="4005072"/>
            <a:ext cx="4663440" cy="274320"/>
          </a:xfrm>
          <a:prstGeom prst="roundRect">
            <a:avLst>
              <a:gd name="adj" fmla="val 20000"/>
            </a:avLst>
          </a:prstGeom>
          <a:solidFill>
            <a:srgbClr val="222852"/>
          </a:solidFill>
          <a:ln w="12700">
            <a:solidFill>
              <a:srgbClr val="2228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53528" y="39684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852"/>
                </a:solidFill>
              </a:rPr>
              <a:t>3 hari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 Pajak">
  <a:themeElements>
    <a:clrScheme name="Master Pajak">
      <a:dk1>
        <a:srgbClr val="1F2433"/>
      </a:dk1>
      <a:lt1>
        <a:srgbClr val="FFFFFF"/>
      </a:lt1>
      <a:dk2>
        <a:srgbClr val="222852"/>
      </a:dk2>
      <a:lt2>
        <a:srgbClr val="F3F4F8"/>
      </a:lt2>
      <a:accent1>
        <a:srgbClr val="222852"/>
      </a:accent1>
      <a:accent2>
        <a:srgbClr val="EAB308"/>
      </a:accent2>
      <a:accent3>
        <a:srgbClr val="3A4178"/>
      </a:accent3>
      <a:accent4>
        <a:srgbClr val="A16207"/>
      </a:accent4>
      <a:accent5>
        <a:srgbClr val="5B6275"/>
      </a:accent5>
      <a:accent6>
        <a:srgbClr val="2F6F4E"/>
      </a:accent6>
      <a:hlink>
        <a:srgbClr val="3A4178"/>
      </a:hlink>
      <a:folHlink>
        <a:srgbClr val="5B6275"/>
      </a:folHlink>
    </a:clrScheme>
    <a:fontScheme name="Master Paja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Master Pajak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Keputusan perlakuan akuntansi untuk MasterPajak AI</dc:title>
  <dc:subject>PptxGenJS Presentation</dc:subject>
  <dc:creator>reyfuu</dc:creator>
  <cp:lastModifiedBy>reyfuu</cp:lastModifiedBy>
  <cp:revision>1</cp:revision>
  <dcterms:created xsi:type="dcterms:W3CDTF">2026-10-22T11:59:28Z</dcterms:created>
  <dcterms:modified xsi:type="dcterms:W3CDTF">2026-10-22T11:59:28Z</dcterms:modified>
</cp:coreProperties>
</file>